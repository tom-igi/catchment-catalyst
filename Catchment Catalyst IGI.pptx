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000066"/>
    <a:srgbClr val="3F3FBF"/>
    <a:srgbClr val="47309C"/>
    <a:srgbClr val="3E3EBC"/>
    <a:srgbClr val="3333CC"/>
    <a:srgbClr val="3B69D1"/>
    <a:srgbClr val="3C55D0"/>
    <a:srgbClr val="0033CC"/>
    <a:srgbClr val="3857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EAD4E5-33D0-4584-83C5-B8B37165E42E}" v="3" dt="2026-10-28T13:55:33.9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7" autoAdjust="0"/>
  </p:normalViewPr>
  <p:slideViewPr>
    <p:cSldViewPr>
      <p:cViewPr varScale="1">
        <p:scale>
          <a:sx n="101" d="100"/>
          <a:sy n="101" d="100"/>
        </p:scale>
        <p:origin x="91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7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Bryden" userId="b4907bba-2c72-494b-9652-b63818face7f" providerId="ADAL" clId="{87FD7421-AF55-49D1-A4E3-CF042C12F493}"/>
    <pc:docChg chg="custSel modSld">
      <pc:chgData name="Tom Bryden" userId="b4907bba-2c72-494b-9652-b63818face7f" providerId="ADAL" clId="{87FD7421-AF55-49D1-A4E3-CF042C12F493}" dt="2026-10-28T13:55:33.902" v="754" actId="20577"/>
      <pc:docMkLst>
        <pc:docMk/>
      </pc:docMkLst>
      <pc:sldChg chg="modSp mod">
        <pc:chgData name="Tom Bryden" userId="b4907bba-2c72-494b-9652-b63818face7f" providerId="ADAL" clId="{87FD7421-AF55-49D1-A4E3-CF042C12F493}" dt="2026-10-28T13:55:33.902" v="754" actId="20577"/>
        <pc:sldMkLst>
          <pc:docMk/>
          <pc:sldMk cId="1529345224" sldId="256"/>
        </pc:sldMkLst>
        <pc:spChg chg="mod">
          <ac:chgData name="Tom Bryden" userId="b4907bba-2c72-494b-9652-b63818face7f" providerId="ADAL" clId="{87FD7421-AF55-49D1-A4E3-CF042C12F493}" dt="2026-10-12T15:59:47.663" v="675" actId="20577"/>
          <ac:spMkLst>
            <pc:docMk/>
            <pc:sldMk cId="1529345224" sldId="256"/>
            <ac:spMk id="2" creationId="{DD452D82-3B69-D7AD-7EF0-694B83F566F3}"/>
          </ac:spMkLst>
        </pc:spChg>
        <pc:spChg chg="mod">
          <ac:chgData name="Tom Bryden" userId="b4907bba-2c72-494b-9652-b63818face7f" providerId="ADAL" clId="{87FD7421-AF55-49D1-A4E3-CF042C12F493}" dt="2026-10-28T13:55:33.902" v="754" actId="20577"/>
          <ac:spMkLst>
            <pc:docMk/>
            <pc:sldMk cId="1529345224" sldId="256"/>
            <ac:spMk id="3" creationId="{D79B0941-EE20-F278-9B87-CF38A8ADFB8F}"/>
          </ac:spMkLst>
        </pc:spChg>
      </pc:sldChg>
      <pc:sldChg chg="addSp modSp mod">
        <pc:chgData name="Tom Bryden" userId="b4907bba-2c72-494b-9652-b63818face7f" providerId="ADAL" clId="{87FD7421-AF55-49D1-A4E3-CF042C12F493}" dt="2026-10-22T10:36:00.069" v="751" actId="2161"/>
        <pc:sldMkLst>
          <pc:docMk/>
          <pc:sldMk cId="1648686638" sldId="257"/>
        </pc:sldMkLst>
        <pc:spChg chg="add mod ord">
          <ac:chgData name="Tom Bryden" userId="b4907bba-2c72-494b-9652-b63818face7f" providerId="ADAL" clId="{87FD7421-AF55-49D1-A4E3-CF042C12F493}" dt="2026-10-12T10:34:02.003" v="408" actId="167"/>
          <ac:spMkLst>
            <pc:docMk/>
            <pc:sldMk cId="1648686638" sldId="257"/>
            <ac:spMk id="3" creationId="{B1A53802-E927-86AA-BFBE-49CC12448265}"/>
          </ac:spMkLst>
        </pc:spChg>
        <pc:spChg chg="add mod">
          <ac:chgData name="Tom Bryden" userId="b4907bba-2c72-494b-9652-b63818face7f" providerId="ADAL" clId="{87FD7421-AF55-49D1-A4E3-CF042C12F493}" dt="2026-10-12T15:49:08.661" v="628" actId="20577"/>
          <ac:spMkLst>
            <pc:docMk/>
            <pc:sldMk cId="1648686638" sldId="257"/>
            <ac:spMk id="6" creationId="{44DF939A-2552-770B-EB74-FA93EED7E153}"/>
          </ac:spMkLst>
        </pc:spChg>
        <pc:spChg chg="mod">
          <ac:chgData name="Tom Bryden" userId="b4907bba-2c72-494b-9652-b63818face7f" providerId="ADAL" clId="{87FD7421-AF55-49D1-A4E3-CF042C12F493}" dt="2026-10-12T10:35:15.099" v="498" actId="1076"/>
          <ac:spMkLst>
            <pc:docMk/>
            <pc:sldMk cId="1648686638" sldId="257"/>
            <ac:spMk id="11" creationId="{EDA6BB5A-0966-BBF7-E969-15AD2A92A0B9}"/>
          </ac:spMkLst>
        </pc:spChg>
        <pc:spChg chg="mod">
          <ac:chgData name="Tom Bryden" userId="b4907bba-2c72-494b-9652-b63818face7f" providerId="ADAL" clId="{87FD7421-AF55-49D1-A4E3-CF042C12F493}" dt="2026-10-12T08:29:36.366" v="54"/>
          <ac:spMkLst>
            <pc:docMk/>
            <pc:sldMk cId="1648686638" sldId="257"/>
            <ac:spMk id="13" creationId="{D3D40AF6-86C7-44EE-97F7-38CC756ADB36}"/>
          </ac:spMkLst>
        </pc:spChg>
        <pc:spChg chg="mod">
          <ac:chgData name="Tom Bryden" userId="b4907bba-2c72-494b-9652-b63818face7f" providerId="ADAL" clId="{87FD7421-AF55-49D1-A4E3-CF042C12F493}" dt="2026-10-12T10:35:04.437" v="497" actId="1035"/>
          <ac:spMkLst>
            <pc:docMk/>
            <pc:sldMk cId="1648686638" sldId="257"/>
            <ac:spMk id="17" creationId="{17D8F307-D6E6-4C1D-DCE9-AD657263ACF9}"/>
          </ac:spMkLst>
        </pc:spChg>
        <pc:spChg chg="mod">
          <ac:chgData name="Tom Bryden" userId="b4907bba-2c72-494b-9652-b63818face7f" providerId="ADAL" clId="{87FD7421-AF55-49D1-A4E3-CF042C12F493}" dt="2026-10-12T15:47:03.195" v="604" actId="20577"/>
          <ac:spMkLst>
            <pc:docMk/>
            <pc:sldMk cId="1648686638" sldId="257"/>
            <ac:spMk id="19" creationId="{BF9969A5-AE36-95AA-9B29-E40F4B4D8D41}"/>
          </ac:spMkLst>
        </pc:spChg>
        <pc:spChg chg="mod">
          <ac:chgData name="Tom Bryden" userId="b4907bba-2c72-494b-9652-b63818face7f" providerId="ADAL" clId="{87FD7421-AF55-49D1-A4E3-CF042C12F493}" dt="2026-10-12T15:44:15.499" v="562" actId="20577"/>
          <ac:spMkLst>
            <pc:docMk/>
            <pc:sldMk cId="1648686638" sldId="257"/>
            <ac:spMk id="25" creationId="{A30AFA47-8423-A02C-6307-BDBCF20B7200}"/>
          </ac:spMkLst>
        </pc:spChg>
        <pc:spChg chg="mod">
          <ac:chgData name="Tom Bryden" userId="b4907bba-2c72-494b-9652-b63818face7f" providerId="ADAL" clId="{87FD7421-AF55-49D1-A4E3-CF042C12F493}" dt="2026-10-12T16:40:00.470" v="699" actId="1076"/>
          <ac:spMkLst>
            <pc:docMk/>
            <pc:sldMk cId="1648686638" sldId="257"/>
            <ac:spMk id="27" creationId="{FD60B748-D27D-AFF6-6EAD-42E7089A3165}"/>
          </ac:spMkLst>
        </pc:spChg>
        <pc:spChg chg="mod">
          <ac:chgData name="Tom Bryden" userId="b4907bba-2c72-494b-9652-b63818face7f" providerId="ADAL" clId="{87FD7421-AF55-49D1-A4E3-CF042C12F493}" dt="2026-10-12T15:49:42.821" v="671" actId="20577"/>
          <ac:spMkLst>
            <pc:docMk/>
            <pc:sldMk cId="1648686638" sldId="257"/>
            <ac:spMk id="29" creationId="{129194DB-9168-73E0-05BB-C06DB1BE68D2}"/>
          </ac:spMkLst>
        </pc:spChg>
        <pc:graphicFrameChg chg="mod modGraphic">
          <ac:chgData name="Tom Bryden" userId="b4907bba-2c72-494b-9652-b63818face7f" providerId="ADAL" clId="{87FD7421-AF55-49D1-A4E3-CF042C12F493}" dt="2026-10-22T10:36:00.069" v="751" actId="2161"/>
          <ac:graphicFrameMkLst>
            <pc:docMk/>
            <pc:sldMk cId="1648686638" sldId="257"/>
            <ac:graphicFrameMk id="2" creationId="{7092191C-0D82-D573-D600-8CA4E83F1FBE}"/>
          </ac:graphicFrameMkLst>
        </pc:graphicFrameChg>
        <pc:graphicFrameChg chg="mod modGraphic">
          <ac:chgData name="Tom Bryden" userId="b4907bba-2c72-494b-9652-b63818face7f" providerId="ADAL" clId="{87FD7421-AF55-49D1-A4E3-CF042C12F493}" dt="2026-10-12T10:34:16.466" v="437" actId="5793"/>
          <ac:graphicFrameMkLst>
            <pc:docMk/>
            <pc:sldMk cId="1648686638" sldId="257"/>
            <ac:graphicFrameMk id="5" creationId="{8A053194-E692-26B0-1DE5-14120F1721A5}"/>
          </ac:graphicFrameMkLst>
        </pc:graphicFrameChg>
        <pc:graphicFrameChg chg="mod modGraphic">
          <ac:chgData name="Tom Bryden" userId="b4907bba-2c72-494b-9652-b63818face7f" providerId="ADAL" clId="{87FD7421-AF55-49D1-A4E3-CF042C12F493}" dt="2026-10-12T10:35:04.437" v="497" actId="1035"/>
          <ac:graphicFrameMkLst>
            <pc:docMk/>
            <pc:sldMk cId="1648686638" sldId="257"/>
            <ac:graphicFrameMk id="9" creationId="{E5AB1653-CAB5-D5EB-AE8B-C62148E2C486}"/>
          </ac:graphicFrameMkLst>
        </pc:graphicFrameChg>
        <pc:graphicFrameChg chg="modGraphic">
          <ac:chgData name="Tom Bryden" userId="b4907bba-2c72-494b-9652-b63818face7f" providerId="ADAL" clId="{87FD7421-AF55-49D1-A4E3-CF042C12F493}" dt="2026-10-12T10:34:19.188" v="441" actId="5793"/>
          <ac:graphicFrameMkLst>
            <pc:docMk/>
            <pc:sldMk cId="1648686638" sldId="257"/>
            <ac:graphicFrameMk id="21" creationId="{0FA8237B-DBC9-33C0-7E3B-F2840FB6CE7C}"/>
          </ac:graphicFrameMkLst>
        </pc:graphicFrameChg>
        <pc:picChg chg="add mod">
          <ac:chgData name="Tom Bryden" userId="b4907bba-2c72-494b-9652-b63818face7f" providerId="ADAL" clId="{87FD7421-AF55-49D1-A4E3-CF042C12F493}" dt="2026-10-12T15:43:21.246" v="546" actId="1036"/>
          <ac:picMkLst>
            <pc:docMk/>
            <pc:sldMk cId="1648686638" sldId="257"/>
            <ac:picMk id="23" creationId="{8312EA38-F64C-211F-257E-2CD108AA2798}"/>
          </ac:picMkLst>
        </pc:picChg>
      </pc:sldChg>
      <pc:sldChg chg="modSp mod">
        <pc:chgData name="Tom Bryden" userId="b4907bba-2c72-494b-9652-b63818face7f" providerId="ADAL" clId="{87FD7421-AF55-49D1-A4E3-CF042C12F493}" dt="2026-10-12T16:40:51.474" v="750" actId="6549"/>
        <pc:sldMkLst>
          <pc:docMk/>
          <pc:sldMk cId="183229428" sldId="259"/>
        </pc:sldMkLst>
        <pc:spChg chg="mod">
          <ac:chgData name="Tom Bryden" userId="b4907bba-2c72-494b-9652-b63818face7f" providerId="ADAL" clId="{87FD7421-AF55-49D1-A4E3-CF042C12F493}" dt="2026-10-12T09:48:19.057" v="61"/>
          <ac:spMkLst>
            <pc:docMk/>
            <pc:sldMk cId="183229428" sldId="259"/>
            <ac:spMk id="2" creationId="{5E0FC3F0-6CCB-8120-64E4-4955B7411C1C}"/>
          </ac:spMkLst>
        </pc:spChg>
        <pc:spChg chg="mod">
          <ac:chgData name="Tom Bryden" userId="b4907bba-2c72-494b-9652-b63818face7f" providerId="ADAL" clId="{87FD7421-AF55-49D1-A4E3-CF042C12F493}" dt="2026-10-12T16:40:51.474" v="750" actId="6549"/>
          <ac:spMkLst>
            <pc:docMk/>
            <pc:sldMk cId="183229428" sldId="259"/>
            <ac:spMk id="3" creationId="{318B7D00-8E5B-7837-8D4E-8B0E2E7266FC}"/>
          </ac:spMkLst>
        </pc:spChg>
        <pc:spChg chg="mod">
          <ac:chgData name="Tom Bryden" userId="b4907bba-2c72-494b-9652-b63818face7f" providerId="ADAL" clId="{87FD7421-AF55-49D1-A4E3-CF042C12F493}" dt="2026-10-12T16:40:39.032" v="749" actId="20577"/>
          <ac:spMkLst>
            <pc:docMk/>
            <pc:sldMk cId="183229428" sldId="259"/>
            <ac:spMk id="13" creationId="{5C834F99-FB44-44E3-CB05-7EF448CE38B3}"/>
          </ac:spMkLst>
        </pc:spChg>
        <pc:picChg chg="mod">
          <ac:chgData name="Tom Bryden" userId="b4907bba-2c72-494b-9652-b63818face7f" providerId="ADAL" clId="{87FD7421-AF55-49D1-A4E3-CF042C12F493}" dt="2026-10-12T16:40:05.553" v="700" actId="14100"/>
          <ac:picMkLst>
            <pc:docMk/>
            <pc:sldMk cId="183229428" sldId="259"/>
            <ac:picMk id="7" creationId="{53C3CA10-FB65-7810-1BFD-7903B9ACE721}"/>
          </ac:picMkLst>
        </pc:picChg>
        <pc:picChg chg="mod">
          <ac:chgData name="Tom Bryden" userId="b4907bba-2c72-494b-9652-b63818face7f" providerId="ADAL" clId="{87FD7421-AF55-49D1-A4E3-CF042C12F493}" dt="2026-10-12T16:40:07.806" v="701" actId="14100"/>
          <ac:picMkLst>
            <pc:docMk/>
            <pc:sldMk cId="183229428" sldId="259"/>
            <ac:picMk id="9" creationId="{1BCE73EB-6C00-729A-8BFC-D9F4768D99A6}"/>
          </ac:picMkLst>
        </pc:picChg>
        <pc:picChg chg="mod">
          <ac:chgData name="Tom Bryden" userId="b4907bba-2c72-494b-9652-b63818face7f" providerId="ADAL" clId="{87FD7421-AF55-49D1-A4E3-CF042C12F493}" dt="2026-10-12T16:40:09.662" v="702" actId="14100"/>
          <ac:picMkLst>
            <pc:docMk/>
            <pc:sldMk cId="183229428" sldId="259"/>
            <ac:picMk id="11" creationId="{FC95C51F-56C8-F8A5-12EC-1F1BCA4A136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23392" y="620688"/>
            <a:ext cx="9889099" cy="187198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47461" y="3717032"/>
            <a:ext cx="8640960" cy="1152128"/>
          </a:xfrm>
        </p:spPr>
        <p:txBody>
          <a:bodyPr anchor="ctr"/>
          <a:lstStyle>
            <a:lvl1pPr marL="0" indent="0" algn="ctr">
              <a:buFontTx/>
              <a:buNone/>
              <a:defRPr sz="2400">
                <a:solidFill>
                  <a:srgbClr val="333399"/>
                </a:solidFill>
                <a:latin typeface="+mn-lt"/>
              </a:defRPr>
            </a:lvl1pPr>
          </a:lstStyle>
          <a:p>
            <a:r>
              <a:rPr lang="en-US" sz="1400">
                <a:solidFill>
                  <a:schemeClr val="accent4"/>
                </a:solidFill>
              </a:rPr>
              <a:t>Click to edit Master subtitle style</a:t>
            </a:r>
            <a:endParaRPr lang="en-GB" sz="1400" dirty="0">
              <a:solidFill>
                <a:schemeClr val="accent4"/>
              </a:solidFill>
            </a:endParaRPr>
          </a:p>
        </p:txBody>
      </p:sp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91851" y="0"/>
            <a:ext cx="120014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1248188" y="4941962"/>
            <a:ext cx="8640233" cy="1007318"/>
          </a:xfrm>
        </p:spPr>
        <p:txBody>
          <a:bodyPr anchor="ctr"/>
          <a:lstStyle>
            <a:lvl1pPr algn="ctr">
              <a:buNone/>
              <a:defRPr sz="2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logo with a circle and a number&#10;&#10;AI-generated content may be incorrect.">
            <a:extLst>
              <a:ext uri="{FF2B5EF4-FFF2-40B4-BE49-F238E27FC236}">
                <a16:creationId xmlns:a16="http://schemas.microsoft.com/office/drawing/2014/main" id="{305886EB-5AA5-87BA-432E-A7BD734402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772" y="2526407"/>
            <a:ext cx="1176338" cy="11906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39" y="0"/>
            <a:ext cx="11905323" cy="7647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339" y="980729"/>
            <a:ext cx="11905323" cy="5242272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buFont typeface="Arial" pitchFamily="34" charset="0"/>
              <a:buChar char="-"/>
              <a:defRPr>
                <a:solidFill>
                  <a:srgbClr val="333399"/>
                </a:solidFill>
              </a:defRPr>
            </a:lvl2pPr>
            <a:lvl3pPr>
              <a:buSzPct val="100000"/>
              <a:buFont typeface="Arial" pitchFamily="34" charset="0"/>
              <a:buChar char="▪"/>
              <a:defRPr>
                <a:solidFill>
                  <a:srgbClr val="333399"/>
                </a:solidFill>
              </a:defRPr>
            </a:lvl3pPr>
            <a:lvl4pPr>
              <a:buFont typeface="Arial" pitchFamily="34" charset="0"/>
              <a:buChar char="▫"/>
              <a:defRPr>
                <a:solidFill>
                  <a:srgbClr val="333399"/>
                </a:solidFill>
              </a:defRPr>
            </a:lvl4pPr>
            <a:lvl5pPr>
              <a:buFont typeface="Arial" pitchFamily="34" charset="0"/>
              <a:buChar char="-"/>
              <a:defRPr>
                <a:solidFill>
                  <a:srgbClr val="333399"/>
                </a:solidFill>
              </a:defRPr>
            </a:lvl5pPr>
            <a:lvl6pPr>
              <a:defRPr sz="1200">
                <a:solidFill>
                  <a:schemeClr val="accent1">
                    <a:lumMod val="25000"/>
                  </a:schemeClr>
                </a:solidFill>
              </a:defRPr>
            </a:lvl6pPr>
            <a:lvl7pPr>
              <a:defRPr sz="1200">
                <a:solidFill>
                  <a:schemeClr val="accent1">
                    <a:lumMod val="25000"/>
                  </a:schemeClr>
                </a:solidFill>
              </a:defRPr>
            </a:lvl7pPr>
            <a:lvl8pPr>
              <a:defRPr sz="1200" baseline="0">
                <a:solidFill>
                  <a:schemeClr val="accent1">
                    <a:lumMod val="25000"/>
                  </a:schemeClr>
                </a:solidFill>
              </a:defRPr>
            </a:lvl8pPr>
            <a:lvl9pPr>
              <a:defRPr sz="1200" baseline="0">
                <a:solidFill>
                  <a:schemeClr val="accent1">
                    <a:lumMod val="2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0421" y="6545090"/>
            <a:ext cx="2254251" cy="268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31AC5C6A-7613-4D1A-A084-79E1F11390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3339" y="547340"/>
            <a:ext cx="11905323" cy="433388"/>
          </a:xfrm>
        </p:spPr>
        <p:txBody>
          <a:bodyPr/>
          <a:lstStyle>
            <a:lvl1pPr>
              <a:buNone/>
              <a:defRPr>
                <a:solidFill>
                  <a:srgbClr val="8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751852" y="241300"/>
            <a:ext cx="7296811" cy="379388"/>
          </a:xfrm>
        </p:spPr>
        <p:txBody>
          <a:bodyPr/>
          <a:lstStyle>
            <a:lvl1pPr algn="r"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b_Simpl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39" y="0"/>
            <a:ext cx="11905323" cy="7647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339" y="980729"/>
            <a:ext cx="11905323" cy="5242272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buFont typeface="Arial" pitchFamily="34" charset="0"/>
              <a:buChar char="-"/>
              <a:defRPr>
                <a:solidFill>
                  <a:srgbClr val="333399"/>
                </a:solidFill>
              </a:defRPr>
            </a:lvl2pPr>
            <a:lvl3pPr>
              <a:buSzPct val="100000"/>
              <a:buFont typeface="Arial" pitchFamily="34" charset="0"/>
              <a:buChar char="▪"/>
              <a:defRPr>
                <a:solidFill>
                  <a:srgbClr val="333399"/>
                </a:solidFill>
              </a:defRPr>
            </a:lvl3pPr>
            <a:lvl4pPr>
              <a:buFont typeface="Arial" pitchFamily="34" charset="0"/>
              <a:buChar char="▫"/>
              <a:defRPr>
                <a:solidFill>
                  <a:srgbClr val="333399"/>
                </a:solidFill>
              </a:defRPr>
            </a:lvl4pPr>
            <a:lvl5pPr>
              <a:buFont typeface="Arial" pitchFamily="34" charset="0"/>
              <a:buChar char="-"/>
              <a:defRPr>
                <a:solidFill>
                  <a:srgbClr val="333399"/>
                </a:solidFill>
              </a:defRPr>
            </a:lvl5pPr>
            <a:lvl6pPr>
              <a:defRPr sz="1200">
                <a:solidFill>
                  <a:schemeClr val="accent1">
                    <a:lumMod val="25000"/>
                  </a:schemeClr>
                </a:solidFill>
              </a:defRPr>
            </a:lvl6pPr>
            <a:lvl7pPr>
              <a:defRPr sz="1200">
                <a:solidFill>
                  <a:schemeClr val="accent1">
                    <a:lumMod val="25000"/>
                  </a:schemeClr>
                </a:solidFill>
              </a:defRPr>
            </a:lvl7pPr>
            <a:lvl8pPr>
              <a:defRPr sz="1200" baseline="0">
                <a:solidFill>
                  <a:schemeClr val="accent1">
                    <a:lumMod val="25000"/>
                  </a:schemeClr>
                </a:solidFill>
              </a:defRPr>
            </a:lvl8pPr>
            <a:lvl9pPr>
              <a:defRPr sz="1200" baseline="0">
                <a:solidFill>
                  <a:schemeClr val="accent1">
                    <a:lumMod val="2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0421" y="6545090"/>
            <a:ext cx="2254251" cy="268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31AC5C6A-7613-4D1A-A084-79E1F11390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45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91851" y="0"/>
            <a:ext cx="120014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4406901"/>
            <a:ext cx="9261375" cy="1362075"/>
          </a:xfrm>
        </p:spPr>
        <p:txBody>
          <a:bodyPr anchor="t"/>
          <a:lstStyle>
            <a:lvl1pPr algn="l">
              <a:defRPr sz="24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9261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800000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EAA9599-DD05-4BCE-9993-515388AF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545090"/>
            <a:ext cx="2254251" cy="268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31AC5C6A-7613-4D1A-A084-79E1F11390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339" y="980729"/>
            <a:ext cx="5856651" cy="5242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864" y="980729"/>
            <a:ext cx="5850797" cy="5242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3339" y="547340"/>
            <a:ext cx="11905323" cy="433388"/>
          </a:xfrm>
        </p:spPr>
        <p:txBody>
          <a:bodyPr/>
          <a:lstStyle>
            <a:lvl1pPr>
              <a:buNone/>
              <a:defRPr>
                <a:solidFill>
                  <a:srgbClr val="8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751852" y="239976"/>
            <a:ext cx="7296811" cy="361644"/>
          </a:xfrm>
        </p:spPr>
        <p:txBody>
          <a:bodyPr/>
          <a:lstStyle>
            <a:lvl1pPr algn="r"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FB98783-7C3E-409F-8328-E2965CD1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0421" y="6545090"/>
            <a:ext cx="2254251" cy="268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31AC5C6A-7613-4D1A-A084-79E1F11390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b_Simple Title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339" y="980729"/>
            <a:ext cx="5856651" cy="5242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864" y="980729"/>
            <a:ext cx="5850797" cy="5242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FB98783-7C3E-409F-8328-E2965CD1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0421" y="6545090"/>
            <a:ext cx="2254251" cy="268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31AC5C6A-7613-4D1A-A084-79E1F11390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18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39" y="392"/>
            <a:ext cx="11905323" cy="7643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339" y="980728"/>
            <a:ext cx="5853179" cy="576064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3339" y="1556793"/>
            <a:ext cx="5853179" cy="456937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980728"/>
            <a:ext cx="5855295" cy="576064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1556793"/>
            <a:ext cx="5855295" cy="456937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3339" y="547340"/>
            <a:ext cx="11905323" cy="433388"/>
          </a:xfrm>
        </p:spPr>
        <p:txBody>
          <a:bodyPr/>
          <a:lstStyle>
            <a:lvl1pPr>
              <a:buNone/>
              <a:defRPr>
                <a:solidFill>
                  <a:srgbClr val="8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751852" y="239976"/>
            <a:ext cx="7296811" cy="361644"/>
          </a:xfrm>
        </p:spPr>
        <p:txBody>
          <a:bodyPr/>
          <a:lstStyle>
            <a:lvl1pPr algn="r"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A78905C-A5E2-4C0B-A6BD-6719B839A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0421" y="6545090"/>
            <a:ext cx="2254251" cy="268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31AC5C6A-7613-4D1A-A084-79E1F11390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3339" y="547340"/>
            <a:ext cx="11905323" cy="433388"/>
          </a:xfrm>
        </p:spPr>
        <p:txBody>
          <a:bodyPr/>
          <a:lstStyle>
            <a:lvl1pPr>
              <a:buNone/>
              <a:defRPr>
                <a:solidFill>
                  <a:srgbClr val="8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751852" y="239976"/>
            <a:ext cx="7296811" cy="361644"/>
          </a:xfrm>
        </p:spPr>
        <p:txBody>
          <a:bodyPr/>
          <a:lstStyle>
            <a:lvl1pPr algn="r"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F0D01-1285-4E88-9977-347DC956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0421" y="6545090"/>
            <a:ext cx="2254251" cy="268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31AC5C6A-7613-4D1A-A084-79E1F11390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F0D01-1285-4E88-9977-347DC956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0421" y="6545090"/>
            <a:ext cx="2254251" cy="268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31AC5C6A-7613-4D1A-A084-79E1F11390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90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E7E7F2-1295-43C5-9745-D3EBD01F7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0421" y="6545090"/>
            <a:ext cx="2254251" cy="268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31AC5C6A-7613-4D1A-A084-79E1F11390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39" y="273050"/>
            <a:ext cx="4416491" cy="70767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5840" y="273051"/>
            <a:ext cx="7392821" cy="585311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339" y="1628801"/>
            <a:ext cx="4416491" cy="44973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3340" y="980728"/>
            <a:ext cx="4416491" cy="648072"/>
          </a:xfrm>
        </p:spPr>
        <p:txBody>
          <a:bodyPr/>
          <a:lstStyle>
            <a:lvl1pPr>
              <a:buNone/>
              <a:defRPr sz="1800">
                <a:solidFill>
                  <a:srgbClr val="8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4D7B6B5-05A2-4D94-9908-E0DA6AA2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0421" y="6545090"/>
            <a:ext cx="2254251" cy="268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31AC5C6A-7613-4D1A-A084-79E1F11390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FDE4E89-4735-4759-B5A6-692425F8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0421" y="6545090"/>
            <a:ext cx="2254251" cy="268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31AC5C6A-7613-4D1A-A084-79E1F11390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3339" y="547340"/>
            <a:ext cx="11905323" cy="433388"/>
          </a:xfrm>
        </p:spPr>
        <p:txBody>
          <a:bodyPr/>
          <a:lstStyle>
            <a:lvl1pPr>
              <a:buNone/>
              <a:defRPr>
                <a:solidFill>
                  <a:srgbClr val="8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751852" y="239976"/>
            <a:ext cx="7296811" cy="361644"/>
          </a:xfrm>
        </p:spPr>
        <p:txBody>
          <a:bodyPr/>
          <a:lstStyle>
            <a:lvl1pPr algn="r"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755E32-60A2-4CA7-9918-41085D22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0421" y="6545090"/>
            <a:ext cx="2254251" cy="268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31AC5C6A-7613-4D1A-A084-79E1F11390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92544" y="115888"/>
            <a:ext cx="1056117" cy="6107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3339" y="115888"/>
            <a:ext cx="10561173" cy="6107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453189"/>
            <a:ext cx="2159000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53189"/>
            <a:ext cx="3860800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40416" y="6453189"/>
            <a:ext cx="2254251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C7DD761-7F94-4702-8B22-96E3BAE0F17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/>
          </p:nvPr>
        </p:nvSpPr>
        <p:spPr>
          <a:xfrm rot="5400000">
            <a:off x="7933098" y="2888049"/>
            <a:ext cx="6120681" cy="577851"/>
          </a:xfrm>
        </p:spPr>
        <p:txBody>
          <a:bodyPr/>
          <a:lstStyle>
            <a:lvl1pPr>
              <a:buNone/>
              <a:defRPr>
                <a:solidFill>
                  <a:srgbClr val="8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339" y="0"/>
            <a:ext cx="11905323" cy="764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339" y="980729"/>
            <a:ext cx="11905323" cy="524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640BEC5-40CB-4B3A-8362-7A7B17AC4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0421" y="6545090"/>
            <a:ext cx="2254251" cy="268287"/>
          </a:xfrm>
          <a:prstGeom prst="rect">
            <a:avLst/>
          </a:prstGeom>
        </p:spPr>
        <p:txBody>
          <a:bodyPr/>
          <a:lstStyle>
            <a:lvl1pPr algn="r">
              <a:defRPr sz="1050"/>
            </a:lvl1pPr>
          </a:lstStyle>
          <a:p>
            <a:fld id="{31AC5C6A-7613-4D1A-A084-79E1F113905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A logo with a circle and a number&#10;&#10;AI-generated content may be incorrect.">
            <a:extLst>
              <a:ext uri="{FF2B5EF4-FFF2-40B4-BE49-F238E27FC236}">
                <a16:creationId xmlns:a16="http://schemas.microsoft.com/office/drawing/2014/main" id="{F73198CB-9F17-912A-996F-809FCDBA6E8D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39" y="6324502"/>
            <a:ext cx="440580" cy="4459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61" r:id="rId6"/>
    <p:sldLayoutId id="2147483653" r:id="rId7"/>
    <p:sldLayoutId id="2147483654" r:id="rId8"/>
    <p:sldLayoutId id="2147483662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ts val="0"/>
        </a:spcBef>
        <a:spcAft>
          <a:spcPct val="0"/>
        </a:spcAft>
        <a:buFont typeface="Arial" pitchFamily="34" charset="0"/>
        <a:buChar char="-"/>
        <a:defRPr sz="1600">
          <a:solidFill>
            <a:srgbClr val="333399"/>
          </a:solidFill>
          <a:latin typeface="+mn-lt"/>
        </a:defRPr>
      </a:lvl2pPr>
      <a:lvl3pPr marL="1143000" indent="-228600" algn="l" rtl="0" eaLnBrk="1" fontAlgn="base" hangingPunct="1">
        <a:spcBef>
          <a:spcPts val="0"/>
        </a:spcBef>
        <a:spcAft>
          <a:spcPct val="0"/>
        </a:spcAft>
        <a:buFont typeface="Arial" pitchFamily="34" charset="0"/>
        <a:buChar char="▪"/>
        <a:defRPr sz="1400">
          <a:solidFill>
            <a:srgbClr val="333399"/>
          </a:solidFill>
          <a:latin typeface="+mn-lt"/>
        </a:defRPr>
      </a:lvl3pPr>
      <a:lvl4pPr marL="1600200" indent="-228600" algn="l" rtl="0" eaLnBrk="1" fontAlgn="base" hangingPunct="1">
        <a:spcBef>
          <a:spcPts val="0"/>
        </a:spcBef>
        <a:spcAft>
          <a:spcPct val="0"/>
        </a:spcAft>
        <a:buFont typeface="Arial" pitchFamily="34" charset="0"/>
        <a:buChar char="▫"/>
        <a:defRPr sz="1200">
          <a:solidFill>
            <a:srgbClr val="333399"/>
          </a:solidFill>
          <a:latin typeface="+mn-lt"/>
        </a:defRPr>
      </a:lvl4pPr>
      <a:lvl5pPr marL="2057400" indent="-228600" algn="l" rtl="0" eaLnBrk="1" fontAlgn="base" hangingPunct="1">
        <a:spcBef>
          <a:spcPts val="0"/>
        </a:spcBef>
        <a:spcAft>
          <a:spcPct val="0"/>
        </a:spcAft>
        <a:buFont typeface="Arial" pitchFamily="34" charset="0"/>
        <a:buChar char="-"/>
        <a:defRPr sz="1200" i="1">
          <a:solidFill>
            <a:srgbClr val="333399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-"/>
        <a:defRPr sz="1200" baseline="0">
          <a:solidFill>
            <a:schemeClr val="accent1">
              <a:lumMod val="25000"/>
            </a:schemeClr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-"/>
        <a:defRPr sz="1200" baseline="0">
          <a:solidFill>
            <a:schemeClr val="accent1">
              <a:lumMod val="25000"/>
            </a:schemeClr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-"/>
        <a:defRPr sz="1200" baseline="0">
          <a:solidFill>
            <a:schemeClr val="accent1">
              <a:lumMod val="25000"/>
            </a:schemeClr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-"/>
        <a:defRPr sz="1200" baseline="0">
          <a:solidFill>
            <a:schemeClr val="accent1">
              <a:lumMod val="25000"/>
            </a:schemeClr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orthdevonbiosphere.org.uk/north-devon-waterbody-dashboard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52D82-3B69-D7AD-7EF0-694B83F566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Catchment Catalyst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B0941-EE20-F278-9B87-CF38A8ADF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426" y="4149080"/>
            <a:ext cx="9265030" cy="1152128"/>
          </a:xfrm>
        </p:spPr>
        <p:txBody>
          <a:bodyPr/>
          <a:lstStyle/>
          <a:p>
            <a:r>
              <a:rPr lang="en-US" sz="2400" dirty="0"/>
              <a:t>Current dashboard:</a:t>
            </a:r>
          </a:p>
          <a:p>
            <a:r>
              <a:rPr lang="en-GB" sz="2400" dirty="0">
                <a:hlinkClick r:id="rId2"/>
              </a:rPr>
              <a:t>https://www.northdevonbiosphere.org.uk/north-devon-waterbody-dashboard.html</a:t>
            </a:r>
            <a:r>
              <a:rPr lang="en-GB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9345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A53802-E927-86AA-BFBE-49CC12448265}"/>
              </a:ext>
            </a:extLst>
          </p:cNvPr>
          <p:cNvSpPr txBox="1"/>
          <p:nvPr/>
        </p:nvSpPr>
        <p:spPr>
          <a:xfrm>
            <a:off x="72008" y="74013"/>
            <a:ext cx="6096000" cy="67403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Central database with one table for each parameter</a:t>
            </a:r>
          </a:p>
          <a:p>
            <a:pPr marL="285750" indent="-285750">
              <a:buFontTx/>
              <a:buChar char="-"/>
            </a:pPr>
            <a:r>
              <a:rPr lang="en-US" sz="1600" i="1" dirty="0"/>
              <a:t>Each row has a Catchment ID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92191C-0D82-D573-D600-8CA4E83F1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023081"/>
              </p:ext>
            </p:extLst>
          </p:nvPr>
        </p:nvGraphicFramePr>
        <p:xfrm>
          <a:off x="122437" y="927770"/>
          <a:ext cx="3168272" cy="2998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152632698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193194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245964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33590569"/>
                    </a:ext>
                  </a:extLst>
                </a:gridCol>
              </a:tblGrid>
              <a:tr h="122927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50" b="1" i="0" dirty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Catchment ID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50" b="1" i="0" dirty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Measure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50" b="1" i="0" dirty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Year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50" b="1" i="0" dirty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Result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356714771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GB108050008080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Ecological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2025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Poor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44340928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GB108050008080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Fish (EQR)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2025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0.16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2220276483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GB108050008080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Phosphate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2025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0.013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3766489260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GB108050008100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Ecological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 dirty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2025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Good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3645890840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GB108050008100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Fish (EQR)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2025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0.48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3005892944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GB108050008100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Phosphate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 dirty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2025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 dirty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0.008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1361545130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GB108050014460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Ecological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2022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Moderate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1137934880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GB108050014460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Fish (EQR)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2022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 dirty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0.36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395711716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endParaRPr lang="en-GB" sz="1000" b="0" i="0" dirty="0">
                        <a:solidFill>
                          <a:schemeClr val="tx1"/>
                        </a:solidFill>
                        <a:effectLst/>
                        <a:latin typeface="JetBrains Mono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endParaRPr lang="en-GB" sz="1000" b="0" i="0">
                        <a:solidFill>
                          <a:srgbClr val="1F2A33"/>
                        </a:solidFill>
                        <a:effectLst/>
                        <a:latin typeface="Source Sans 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endParaRPr lang="en-GB" sz="1000" b="0" i="0">
                        <a:solidFill>
                          <a:srgbClr val="1F2A33"/>
                        </a:solidFill>
                        <a:effectLst/>
                        <a:latin typeface="Source Sans 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endParaRPr lang="en-GB" sz="1000" b="0" i="0" dirty="0">
                        <a:solidFill>
                          <a:srgbClr val="1F2A33"/>
                        </a:solidFill>
                        <a:effectLst/>
                        <a:latin typeface="Source Sans 3"/>
                      </a:endParaRP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293401951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GB108050014460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Phosphate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2022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 dirty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0.057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1909203085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GB108050020040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Ecological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2022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Poor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1804518122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…</a:t>
                      </a:r>
                      <a:endParaRPr lang="en-GB" sz="1000" b="0" i="0" dirty="0">
                        <a:solidFill>
                          <a:schemeClr val="tx1"/>
                        </a:solidFill>
                        <a:effectLst/>
                        <a:latin typeface="JetBrains Mono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 b="0" i="0" dirty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…</a:t>
                      </a:r>
                      <a:endParaRPr lang="en-GB" sz="1000" b="0" i="0" dirty="0">
                        <a:solidFill>
                          <a:srgbClr val="1F2A33"/>
                        </a:solidFill>
                        <a:effectLst/>
                        <a:latin typeface="Source Sans 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000" b="0" i="0" dirty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…</a:t>
                      </a:r>
                      <a:endParaRPr lang="en-GB" sz="1000" b="0" i="0" dirty="0">
                        <a:solidFill>
                          <a:srgbClr val="1F2A33"/>
                        </a:solidFill>
                        <a:effectLst/>
                        <a:latin typeface="Source Sans 3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000" b="0" i="0" dirty="0">
                          <a:solidFill>
                            <a:srgbClr val="1F2A33"/>
                          </a:solidFill>
                          <a:effectLst/>
                          <a:latin typeface="Source Sans 3"/>
                        </a:rPr>
                        <a:t>…</a:t>
                      </a:r>
                      <a:endParaRPr lang="en-GB" sz="1000" b="0" i="0" dirty="0">
                        <a:solidFill>
                          <a:srgbClr val="1F2A33"/>
                        </a:solidFill>
                        <a:effectLst/>
                        <a:latin typeface="Source Sans 3"/>
                      </a:endParaRP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265555133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053194-E692-26B0-1DE5-14120F172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252747"/>
              </p:ext>
            </p:extLst>
          </p:nvPr>
        </p:nvGraphicFramePr>
        <p:xfrm>
          <a:off x="3417323" y="931580"/>
          <a:ext cx="2664216" cy="2762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152632698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1931946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33590569"/>
                    </a:ext>
                  </a:extLst>
                </a:gridCol>
              </a:tblGrid>
              <a:tr h="122927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1" i="0" dirty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Catchment ID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1" i="0" dirty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Habitat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1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Area (ha)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356714771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GB108050008080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Farmland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612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44340928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GB108050008080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Woodland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388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2220276483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GB108050008080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Not farmed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1,240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3766489260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GB108050008100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Farmland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905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3645890840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GB108050008100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Woodland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310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3005892944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GB108050014460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Farmland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1,711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1361545130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GB108050014460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Not farmed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423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1137934880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GB108050014460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Woodland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439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395711716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GB108050014460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Urban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91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1909203085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GB108050020040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Farmland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1,960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1804518122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…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…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…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265555133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5AB1653-CAB5-D5EB-AE8B-C62148E2C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1819"/>
              </p:ext>
            </p:extLst>
          </p:nvPr>
        </p:nvGraphicFramePr>
        <p:xfrm>
          <a:off x="122437" y="3995941"/>
          <a:ext cx="2949227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1526326980"/>
                    </a:ext>
                  </a:extLst>
                </a:gridCol>
                <a:gridCol w="1797227">
                  <a:extLst>
                    <a:ext uri="{9D8B030D-6E8A-4147-A177-3AD203B41FA5}">
                      <a16:colId xmlns:a16="http://schemas.microsoft.com/office/drawing/2014/main" val="1680399792"/>
                    </a:ext>
                  </a:extLst>
                </a:gridCol>
              </a:tblGrid>
              <a:tr h="122927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1" i="0" dirty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Catchment ID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1" i="0" dirty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Description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356714771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GB108050008080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 b="0" i="0" dirty="0" err="1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Wooleigh</a:t>
                      </a:r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 Brook is currently at Moderate Ecological Status. The principle failing element is …</a:t>
                      </a:r>
                      <a:endParaRPr lang="en-GB" sz="1000" b="0" i="0" dirty="0">
                        <a:solidFill>
                          <a:schemeClr val="tx1"/>
                        </a:solidFill>
                        <a:effectLst/>
                        <a:latin typeface="Source Sans 3"/>
                      </a:endParaRP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44340928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GB108050008100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Mole (Taw to Bray) is currently …</a:t>
                      </a:r>
                      <a:endParaRPr lang="en-GB" sz="1000" b="0" i="0" dirty="0">
                        <a:solidFill>
                          <a:schemeClr val="tx1"/>
                        </a:solidFill>
                        <a:effectLst/>
                        <a:latin typeface="Source Sans 3"/>
                      </a:endParaRP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3766489260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…</a:t>
                      </a:r>
                      <a:endParaRPr lang="en-GB" sz="1000" b="0" i="0" dirty="0">
                        <a:solidFill>
                          <a:schemeClr val="tx1"/>
                        </a:solidFill>
                        <a:effectLst/>
                        <a:latin typeface="JetBrains Mono"/>
                      </a:endParaRP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…</a:t>
                      </a:r>
                      <a:endParaRPr lang="en-GB" sz="1000" b="0" i="0" dirty="0">
                        <a:solidFill>
                          <a:schemeClr val="tx1"/>
                        </a:solidFill>
                        <a:effectLst/>
                        <a:latin typeface="Source Sans 3"/>
                      </a:endParaRP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265555133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DA6BB5A-0966-BBF7-E969-15AD2A92A0B9}"/>
              </a:ext>
            </a:extLst>
          </p:cNvPr>
          <p:cNvSpPr txBox="1"/>
          <p:nvPr/>
        </p:nvSpPr>
        <p:spPr>
          <a:xfrm>
            <a:off x="3290709" y="3747150"/>
            <a:ext cx="1584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  <a:p>
            <a:r>
              <a:rPr lang="en-US" sz="1600" dirty="0"/>
              <a:t>etc. one table per parameter </a:t>
            </a:r>
            <a:endParaRPr lang="en-GB" sz="1600" dirty="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D40AF6-86C7-44EE-97F7-38CC756ADB36}"/>
              </a:ext>
            </a:extLst>
          </p:cNvPr>
          <p:cNvSpPr txBox="1"/>
          <p:nvPr/>
        </p:nvSpPr>
        <p:spPr>
          <a:xfrm>
            <a:off x="122437" y="658788"/>
            <a:ext cx="3168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EA Water Quality Scores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D161CF-0AA0-F881-B7AE-CEA02DE56832}"/>
              </a:ext>
            </a:extLst>
          </p:cNvPr>
          <p:cNvSpPr txBox="1"/>
          <p:nvPr/>
        </p:nvSpPr>
        <p:spPr>
          <a:xfrm>
            <a:off x="3417323" y="658788"/>
            <a:ext cx="2664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Habitat and Land Use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D8F307-D6E6-4C1D-DCE9-AD657263ACF9}"/>
              </a:ext>
            </a:extLst>
          </p:cNvPr>
          <p:cNvSpPr txBox="1"/>
          <p:nvPr/>
        </p:nvSpPr>
        <p:spPr>
          <a:xfrm>
            <a:off x="122437" y="3717032"/>
            <a:ext cx="295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Why is the river failing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9969A5-AE36-95AA-9B29-E40F4B4D8D41}"/>
              </a:ext>
            </a:extLst>
          </p:cNvPr>
          <p:cNvSpPr txBox="1"/>
          <p:nvPr/>
        </p:nvSpPr>
        <p:spPr>
          <a:xfrm>
            <a:off x="6344698" y="1052736"/>
            <a:ext cx="5655958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Frontend (can do this as many times as needed)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FA8237B-DBC9-33C0-7E3B-F2840FB6C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634810"/>
              </p:ext>
            </p:extLst>
          </p:nvPr>
        </p:nvGraphicFramePr>
        <p:xfrm>
          <a:off x="7735941" y="1391970"/>
          <a:ext cx="1152128" cy="11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1526326980"/>
                    </a:ext>
                  </a:extLst>
                </a:gridCol>
              </a:tblGrid>
              <a:tr h="122927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1" i="0" dirty="0">
                          <a:solidFill>
                            <a:schemeClr val="tx1"/>
                          </a:solidFill>
                          <a:effectLst/>
                          <a:latin typeface="Source Sans 3"/>
                        </a:rPr>
                        <a:t>Catchment ID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356714771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GB108050008080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44340928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GB108050008100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3645890840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GB108050014460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1361545130"/>
                  </a:ext>
                </a:extLst>
              </a:tr>
              <a:tr h="12629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000" b="0" i="0" dirty="0">
                          <a:solidFill>
                            <a:schemeClr val="tx1"/>
                          </a:solidFill>
                          <a:effectLst/>
                          <a:latin typeface="JetBrains Mono"/>
                        </a:rPr>
                        <a:t>…</a:t>
                      </a:r>
                    </a:p>
                  </a:txBody>
                  <a:tcPr marL="95250" marR="95250" marT="38100" marB="38100" anchor="ctr"/>
                </a:tc>
                <a:extLst>
                  <a:ext uri="{0D108BD9-81ED-4DB2-BD59-A6C34878D82A}">
                    <a16:rowId xmlns:a16="http://schemas.microsoft.com/office/drawing/2014/main" val="2655551339"/>
                  </a:ext>
                </a:extLst>
              </a:tr>
            </a:tbl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8312EA38-F64C-211F-257E-2CD108AA2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204" y="3213749"/>
            <a:ext cx="4628945" cy="259188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30AFA47-8423-A02C-6307-BDBCF20B7200}"/>
              </a:ext>
            </a:extLst>
          </p:cNvPr>
          <p:cNvSpPr txBox="1"/>
          <p:nvPr/>
        </p:nvSpPr>
        <p:spPr>
          <a:xfrm>
            <a:off x="3585170" y="5280735"/>
            <a:ext cx="2027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+</a:t>
            </a:r>
          </a:p>
          <a:p>
            <a:pPr algn="ctr"/>
            <a:r>
              <a:rPr lang="en-US" b="1" dirty="0"/>
              <a:t>Store </a:t>
            </a:r>
            <a:r>
              <a:rPr lang="en-US" b="1" dirty="0" err="1"/>
              <a:t>GeoJSON</a:t>
            </a:r>
            <a:r>
              <a:rPr lang="en-US" b="1" dirty="0"/>
              <a:t> or Shapefiles for all catchments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60B748-D27D-AFF6-6EAD-42E7089A3165}"/>
              </a:ext>
            </a:extLst>
          </p:cNvPr>
          <p:cNvSpPr txBox="1"/>
          <p:nvPr/>
        </p:nvSpPr>
        <p:spPr>
          <a:xfrm>
            <a:off x="6499557" y="1385938"/>
            <a:ext cx="12363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1) User inputs catchments to include: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9194DB-9168-73E0-05BB-C06DB1BE68D2}"/>
              </a:ext>
            </a:extLst>
          </p:cNvPr>
          <p:cNvSpPr txBox="1"/>
          <p:nvPr/>
        </p:nvSpPr>
        <p:spPr>
          <a:xfrm>
            <a:off x="6372479" y="2609924"/>
            <a:ext cx="5425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3) Publish exactly the same frontend for the user given catchments, with a different url:</a:t>
            </a:r>
            <a:endParaRPr lang="en-GB" sz="1600" dirty="0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DF939A-2552-770B-EB74-FA93EED7E153}"/>
              </a:ext>
            </a:extLst>
          </p:cNvPr>
          <p:cNvSpPr txBox="1"/>
          <p:nvPr/>
        </p:nvSpPr>
        <p:spPr>
          <a:xfrm>
            <a:off x="9912424" y="1803718"/>
            <a:ext cx="1236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2) Publish</a:t>
            </a:r>
          </a:p>
        </p:txBody>
      </p:sp>
    </p:spTree>
    <p:extLst>
      <p:ext uri="{BB962C8B-B14F-4D97-AF65-F5344CB8AC3E}">
        <p14:creationId xmlns:p14="http://schemas.microsoft.com/office/powerpoint/2010/main" val="1648686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FC3F0-6CCB-8120-64E4-4955B741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the data into the central database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B7D00-8E5B-7837-8D4E-8B0E2E726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Make Excel tables look exactly the same as central database tables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Gradually automate parts that take the most time</a:t>
            </a:r>
          </a:p>
          <a:p>
            <a:pPr lvl="1"/>
            <a:r>
              <a:rPr lang="en-US" dirty="0"/>
              <a:t>i.e. Central database table created by dropping in two unformatted Excel files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Full automation</a:t>
            </a:r>
          </a:p>
          <a:p>
            <a:pPr lvl="1"/>
            <a:r>
              <a:rPr lang="en-GB" dirty="0"/>
              <a:t>User input new catchment list to include, automated script calls APIs and pulls all data into the Central database </a:t>
            </a:r>
          </a:p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40553-200E-ADA0-7F55-C26BFA7AF3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Varying levels of automation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C3CA10-FB65-7810-1BFD-7903B9ACE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466076"/>
            <a:ext cx="1872208" cy="16376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CE73EB-6C00-729A-8BFC-D9F4768D9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112" y="1461162"/>
            <a:ext cx="1357800" cy="16376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95C51F-56C8-F8A5-12EC-1F1BCA4A1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595" y="1487754"/>
            <a:ext cx="1701494" cy="10193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C834F99-FB44-44E3-CB05-7EF448CE38B3}"/>
              </a:ext>
            </a:extLst>
          </p:cNvPr>
          <p:cNvSpPr txBox="1"/>
          <p:nvPr/>
        </p:nvSpPr>
        <p:spPr>
          <a:xfrm>
            <a:off x="7888127" y="1599159"/>
            <a:ext cx="416053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Pros:</a:t>
            </a:r>
          </a:p>
          <a:p>
            <a:pPr marL="285750" indent="-285750">
              <a:buFontTx/>
              <a:buChar char="-"/>
            </a:pPr>
            <a:r>
              <a:rPr lang="en-US" sz="1600" i="1" dirty="0"/>
              <a:t>Scalable: can automate more (step 2) as sell more locations</a:t>
            </a:r>
          </a:p>
          <a:p>
            <a:r>
              <a:rPr lang="en-US" sz="1600" i="1" dirty="0"/>
              <a:t>Cons:</a:t>
            </a:r>
          </a:p>
          <a:p>
            <a:pPr marL="285750" indent="-285750">
              <a:buFontTx/>
              <a:buChar char="-"/>
            </a:pPr>
            <a:r>
              <a:rPr lang="en-US" sz="1600" i="1" dirty="0"/>
              <a:t>Doesn’t save much time at the moment</a:t>
            </a:r>
          </a:p>
          <a:p>
            <a:pPr marL="285750" indent="-285750">
              <a:buFontTx/>
              <a:buChar char="-"/>
            </a:pPr>
            <a:r>
              <a:rPr lang="en-US" sz="1600" i="1" dirty="0"/>
              <a:t>Biosphere has less control on what the dashboard looks like / doing upgrades, takes time to tell IGI what to do</a:t>
            </a:r>
          </a:p>
        </p:txBody>
      </p:sp>
    </p:spTree>
    <p:extLst>
      <p:ext uri="{BB962C8B-B14F-4D97-AF65-F5344CB8AC3E}">
        <p14:creationId xmlns:p14="http://schemas.microsoft.com/office/powerpoint/2010/main" val="1832294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GI Presentation_GK2">
  <a:themeElements>
    <a:clrScheme name="Standard">
      <a:dk1>
        <a:srgbClr val="000000"/>
      </a:dk1>
      <a:lt1>
        <a:srgbClr val="FFFFFF"/>
      </a:lt1>
      <a:dk2>
        <a:srgbClr val="000066"/>
      </a:dk2>
      <a:lt2>
        <a:srgbClr val="FFFFFF"/>
      </a:lt2>
      <a:accent1>
        <a:srgbClr val="FFE2C5"/>
      </a:accent1>
      <a:accent2>
        <a:srgbClr val="D9F1FF"/>
      </a:accent2>
      <a:accent3>
        <a:srgbClr val="800000"/>
      </a:accent3>
      <a:accent4>
        <a:srgbClr val="000066"/>
      </a:accent4>
      <a:accent5>
        <a:srgbClr val="FFFFCC"/>
      </a:accent5>
      <a:accent6>
        <a:srgbClr val="E4FFC9"/>
      </a:accent6>
      <a:hlink>
        <a:srgbClr val="0000FF"/>
      </a:hlink>
      <a:folHlink>
        <a:srgbClr val="A5002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6350"/>
      </a:spPr>
      <a:bodyPr lIns="36000" tIns="36000" rIns="36000" bIns="36000" rtlCol="0" anchor="ctr"/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600" dirty="0" err="1" smtClean="0"/>
        </a:defPPr>
      </a:lstStyle>
    </a:tx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GI 2025 presentation template.potx" id="{0033BB74-E50B-4D92-A2DC-6977B6A21B3D}" vid="{E29E2717-11A3-4A56-8166-ABC76428AB0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IGI 2025 presentation template</Template>
  <TotalTime>0</TotalTime>
  <Words>350</Words>
  <Application>Microsoft Office PowerPoint</Application>
  <PresentationFormat>Widescreen</PresentationFormat>
  <Paragraphs>172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JetBrains Mono</vt:lpstr>
      <vt:lpstr>Source Sans 3</vt:lpstr>
      <vt:lpstr>IGI Presentation_GK2</vt:lpstr>
      <vt:lpstr>Catchment Catalyst</vt:lpstr>
      <vt:lpstr>PowerPoint Presentation</vt:lpstr>
      <vt:lpstr>Getting the data into the central database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Bryden</dc:creator>
  <cp:lastModifiedBy>Tom Bryden</cp:lastModifiedBy>
  <cp:revision>1</cp:revision>
  <dcterms:created xsi:type="dcterms:W3CDTF">2026-10-12T08:22:03Z</dcterms:created>
  <dcterms:modified xsi:type="dcterms:W3CDTF">2026-10-28T13:55:35Z</dcterms:modified>
</cp:coreProperties>
</file>